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1B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5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1F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33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Clothing</c:v>
                  </c:pt>
                  <c:pt idx="1">
                    <c:v>Accessories</c:v>
                  </c:pt>
                  <c:pt idx="2">
                    <c:v>Footwear</c:v>
                  </c:pt>
                  <c:pt idx="3">
                    <c:v>Outerwear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</c:v>
                </c:pt>
                <c:pt idx="1">
                  <c:v>74</c:v>
                </c:pt>
                <c:pt idx="2">
                  <c:v>36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5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D633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5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33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1F5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59</c:v>
                </c:pt>
                <c:pt idx="2">
                  <c:v>56</c:v>
                </c:pt>
                <c:pt idx="3">
                  <c:v>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5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1B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1F5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1F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633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D2E4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PayPal</c:v>
                  </c:pt>
                  <c:pt idx="1">
                    <c:v>Cash</c:v>
                  </c:pt>
                  <c:pt idx="2">
                    <c:v>Credit Card</c:v>
                  </c:pt>
                  <c:pt idx="3">
                    <c:v>Venmo</c:v>
                  </c:pt>
                  <c:pt idx="4">
                    <c:v>Bank Transfer</c:v>
                  </c:pt>
                  <c:pt idx="5">
                    <c:v>Debit Card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1.33</c:v>
                </c:pt>
                <c:pt idx="1">
                  <c:v>1.32</c:v>
                </c:pt>
                <c:pt idx="2">
                  <c:v>1.31</c:v>
                </c:pt>
                <c:pt idx="3">
                  <c:v>1.23</c:v>
                </c:pt>
                <c:pt idx="4">
                  <c:v>1.22</c:v>
                </c:pt>
                <c:pt idx="5">
                  <c:v>1.19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1F5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2926080" cy="5070348"/>
          </a:xfrm>
          <a:prstGeom prst="rect">
            <a:avLst/>
          </a:prstGeom>
          <a:solidFill>
            <a:srgbClr val="A0005A"/>
          </a:solidFill>
          <a:ln w="12700">
            <a:solidFill>
              <a:srgbClr val="A00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73152"/>
            <a:ext cx="6217920" cy="5070348"/>
          </a:xfrm>
          <a:prstGeom prst="rect">
            <a:avLst/>
          </a:prstGeom>
          <a:solidFill>
            <a:srgbClr val="242880"/>
          </a:solidFill>
          <a:ln w="12700">
            <a:solidFill>
              <a:srgbClr val="2428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🛍️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182880" y="21031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FFFFFF"/>
                </a:solidFill>
              </a:rPr>
              <a:t>CUSTOMER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" y="25146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F8BBD9"/>
                </a:solidFill>
              </a:rPr>
              <a:t>BEHAVIOUR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82880" y="29260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600" kern="0" dirty="0">
                <a:solidFill>
                  <a:srgbClr val="FFFFFF"/>
                </a:solidFill>
              </a:rPr>
              <a:t>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00400" y="91440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 Analysis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3200400" y="2468880"/>
            <a:ext cx="457200" cy="54864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2606040"/>
            <a:ext cx="5577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deep-dive into purchasing patterns,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segments, revenue drivers &amp; product performance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3,900+ customers.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3749040"/>
            <a:ext cx="1280160" cy="822960"/>
          </a:xfrm>
          <a:prstGeom prst="rect">
            <a:avLst/>
          </a:prstGeom>
          <a:solidFill>
            <a:srgbClr val="D63384">
              <a:alpha val="30000"/>
            </a:srgbClr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3749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3.9K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20040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BBD9"/>
                </a:solidFill>
              </a:rPr>
              <a:t>Customers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3749040"/>
            <a:ext cx="1280160" cy="822960"/>
          </a:xfrm>
          <a:prstGeom prst="rect">
            <a:avLst/>
          </a:prstGeom>
          <a:solidFill>
            <a:srgbClr val="D63384">
              <a:alpha val="30000"/>
            </a:srgbClr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3749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$59.76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1772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BBD9"/>
                </a:solidFill>
              </a:rPr>
              <a:t>Avg Purchase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35040" y="3749040"/>
            <a:ext cx="1280160" cy="822960"/>
          </a:xfrm>
          <a:prstGeom prst="rect">
            <a:avLst/>
          </a:prstGeom>
          <a:solidFill>
            <a:srgbClr val="D63384">
              <a:alpha val="30000"/>
            </a:srgbClr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3749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3.75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03504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BBD9"/>
                </a:solidFill>
              </a:rPr>
              <a:t>Avg Rating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52360" y="3749040"/>
            <a:ext cx="1280160" cy="822960"/>
          </a:xfrm>
          <a:prstGeom prst="rect">
            <a:avLst/>
          </a:prstGeom>
          <a:solidFill>
            <a:srgbClr val="D63384">
              <a:alpha val="30000"/>
            </a:srgbClr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7490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52360" y="4206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BBD9"/>
                </a:solidFill>
              </a:rPr>
              <a:t>Categories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Data-Driven Insights  |  Retail Analytics  | 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8BBD9"/>
                </a:solidFill>
              </a:rPr>
              <a:t>Key Performance Indicators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14400"/>
            <a:ext cx="1920240" cy="73152"/>
          </a:xfrm>
          <a:prstGeom prst="rect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" y="1572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F5E"/>
                </a:solidFill>
              </a:rPr>
              <a:t>3,900+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4320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5E"/>
                </a:solidFill>
              </a:rPr>
              <a:t>Total Customers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2286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Analyzed dataset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50592" y="91440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914400"/>
            <a:ext cx="1920240" cy="73152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💰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50592" y="1572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3384"/>
                </a:solidFill>
              </a:rPr>
              <a:t>$59.76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450592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5E"/>
                </a:solidFill>
              </a:rPr>
              <a:t>Avg Purchase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50592" y="2286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Per transaction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26864" y="91440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914400"/>
            <a:ext cx="192024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⭐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626864" y="1572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3.75 / 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26864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5E"/>
                </a:solidFill>
              </a:rPr>
              <a:t>Avg Rating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26864" y="2286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Product satisfaction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803136" y="914400"/>
            <a:ext cx="19202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03136" y="914400"/>
            <a:ext cx="192024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03136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803136" y="15727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D2E46"/>
                </a:solidFill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03136" y="19933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5E"/>
                </a:solidFill>
              </a:rPr>
              <a:t>Categories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03136" y="22860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Clothing, Accessories,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Footwear, Outerwear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291840"/>
            <a:ext cx="8595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291840"/>
            <a:ext cx="54864" cy="1463040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337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5E"/>
                </a:solidFill>
              </a:rPr>
              <a:t>Subscription Breakdown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3749040"/>
            <a:ext cx="548640" cy="548640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73%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9728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5E"/>
                </a:solidFill>
              </a:rPr>
              <a:t>Non-Subscribers (2,850)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0" y="3749040"/>
            <a:ext cx="548640" cy="548640"/>
          </a:xfrm>
          <a:prstGeom prst="rect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27%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212080" y="37947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5E"/>
                </a:solidFill>
              </a:rPr>
              <a:t>Subscribers (1,050)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73% of customers are not subscribed — significant opportunity for subscription growth.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8BBD9"/>
                </a:solidFill>
              </a:rPr>
              <a:t>Category &amp; Gender Breakdown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303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868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5E"/>
                </a:solidFill>
              </a:rPr>
              <a:t>Revenue by Category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1188720"/>
          <a:ext cx="530352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760720" y="868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5E"/>
                </a:solidFill>
              </a:rPr>
              <a:t>Category Share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1280160"/>
            <a:ext cx="3108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60720" y="1280160"/>
            <a:ext cx="54864" cy="640080"/>
          </a:xfrm>
          <a:prstGeom prst="rect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1316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5E"/>
                </a:solidFill>
              </a:rPr>
              <a:t>Clothing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97880" y="1600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$104K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06640" y="13258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B1F5E"/>
                </a:solidFill>
              </a:rPr>
              <a:t>44%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5760720" y="2029968"/>
            <a:ext cx="3108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0720" y="2029968"/>
            <a:ext cx="54864" cy="640080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20665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5E"/>
                </a:solidFill>
              </a:rPr>
              <a:t>Accessories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97880" y="235000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$74K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06640" y="20756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D63384"/>
                </a:solidFill>
              </a:rPr>
              <a:t>31%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5760720" y="2779776"/>
            <a:ext cx="3108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60720" y="2779776"/>
            <a:ext cx="54864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2816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5E"/>
                </a:solidFill>
              </a:rPr>
              <a:t>Footwear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897880" y="309981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$36K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406640" y="282549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15%</a:t>
            </a:r>
            <a:endParaRPr lang="en-US" sz="2200" dirty="0"/>
          </a:p>
        </p:txBody>
      </p:sp>
      <p:sp>
        <p:nvSpPr>
          <p:cNvPr id="25" name="Shape 22"/>
          <p:cNvSpPr/>
          <p:nvPr/>
        </p:nvSpPr>
        <p:spPr>
          <a:xfrm>
            <a:off x="5760720" y="3529584"/>
            <a:ext cx="31089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760720" y="3529584"/>
            <a:ext cx="54864" cy="640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97880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5E"/>
                </a:solidFill>
              </a:rPr>
              <a:t>Outerwear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897880" y="384962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$19K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7406640" y="357530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6D2E46"/>
                </a:solidFill>
              </a:rPr>
              <a:t>8%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&amp; Demographics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27432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🆕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New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7432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121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F5E"/>
                </a:solidFill>
              </a:rPr>
              <a:t>1 previous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1F5E"/>
                </a:solidFill>
              </a:rPr>
              <a:t>purchase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22960"/>
            <a:ext cx="2743200" cy="73152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63384"/>
                </a:solidFill>
              </a:rPr>
              <a:t>Returning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20040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2121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F5E"/>
                </a:solidFill>
              </a:rPr>
              <a:t>2-10 previous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1F5E"/>
                </a:solidFill>
              </a:rPr>
              <a:t>purchases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82296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822960"/>
            <a:ext cx="2743200" cy="73152"/>
          </a:xfrm>
          <a:prstGeom prst="rect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9144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💎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26480" y="1508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5E"/>
                </a:solidFill>
              </a:rPr>
              <a:t>Loyal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2648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Customers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2121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B1F5E"/>
                </a:solidFill>
              </a:rPr>
              <a:t>11+ previous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B1F5E"/>
                </a:solidFill>
              </a:rPr>
              <a:t>purchases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85953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5720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5E"/>
                </a:solidFill>
              </a:rPr>
              <a:t>Revenue by Age Group</a:t>
            </a:r>
            <a:endParaRPr lang="en-US" sz="1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3154680"/>
          <a:ext cx="859536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 &amp; Shipping Preferences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0292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5E"/>
                </a:solidFill>
              </a:rPr>
              <a:t>Revenue by Payment Method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18872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822960"/>
            <a:ext cx="33832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0" y="822960"/>
            <a:ext cx="3383280" cy="73152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77840" y="868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5E"/>
                </a:solidFill>
              </a:rPr>
              <a:t>Shipping Insights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23560" y="12801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5E"/>
                </a:solidFill>
              </a:rPr>
              <a:t>📦  Standard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589520" y="12801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3384"/>
                </a:solidFill>
              </a:rPr>
              <a:t>$59.24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23560" y="1847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5E"/>
                </a:solidFill>
              </a:rPr>
              <a:t>⚡  Express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589520" y="18470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3384"/>
                </a:solidFill>
              </a:rPr>
              <a:t>$60.41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623560" y="241401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5E"/>
                </a:solidFill>
              </a:rPr>
              <a:t>🆓  Free Shipping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589520" y="241401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3384"/>
                </a:solidFill>
              </a:rPr>
              <a:t>~$59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623560" y="29809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5E"/>
                </a:solidFill>
              </a:rPr>
              <a:t>✈️  2-Day Air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589520" y="29809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3384"/>
                </a:solidFill>
              </a:rPr>
              <a:t>~$59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23560" y="35478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5E"/>
                </a:solidFill>
              </a:rPr>
              <a:t>🚀  Next Day Air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589520" y="354787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3384"/>
                </a:solidFill>
              </a:rPr>
              <a:t>~$60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623560" y="4114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1F5E"/>
                </a:solidFill>
              </a:rPr>
              <a:t>🏪  Store Pickup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58952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63384"/>
                </a:solidFill>
              </a:rPr>
              <a:t>~$59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577840" y="4663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Express shipping yields ~2% higher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average spend vs Standard.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Analytical Insights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0" y="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8BBD9"/>
                </a:solidFill>
              </a:rPr>
              <a:t>From SQL Analysis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54864" cy="1188720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5E"/>
                </a:solidFill>
              </a:rPr>
              <a:t>👫  Gender Revenue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234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Male vs Female spending patterns are nearly balanced, indicating broad market appeal across both genders.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22960"/>
            <a:ext cx="54864" cy="1188720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8961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5E"/>
                </a:solidFill>
              </a:rPr>
              <a:t>🏷️  Discount Behavior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92040" y="12344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 significant cohort of customers use discounts yet still spend above the average — price-sensitive but high-value buyers.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94560"/>
            <a:ext cx="54864" cy="1188720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67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5E"/>
                </a:solidFill>
              </a:rPr>
              <a:t>🌟  Top Products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" y="2606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Top 5 rated products consistently score above 4.0, pointing to strong quality perception in select lines.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1945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194560"/>
            <a:ext cx="54864" cy="1188720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267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5E"/>
                </a:solidFill>
              </a:rPr>
              <a:t>📊  Subscriber Spend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26060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Subscribers show higher avg. spend and greater loyalty versus non-subscribers, validating subscription programs.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566160"/>
            <a:ext cx="54864" cy="1188720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5E"/>
                </a:solidFill>
              </a:rPr>
              <a:t>🔁  Repeat Buyers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977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Customers with 5+ purchases are more likely to subscribe — loyalty and subscriptions are positively correlated.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566160"/>
            <a:ext cx="4206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566160"/>
            <a:ext cx="54864" cy="1188720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393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1F5E"/>
                </a:solidFill>
              </a:rPr>
              <a:t>💸  Discount Leaders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92040" y="39776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5 products top the discount application rate, suggesting where promotional strategy is most impactful.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8BBD9"/>
                </a:solidFill>
              </a:rPr>
              <a:t>Top Products &amp; Category Leaders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206240" cy="411480"/>
          </a:xfrm>
          <a:prstGeom prst="rect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Clothing  — Top 3 Products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325880"/>
            <a:ext cx="228600" cy="228600"/>
          </a:xfrm>
          <a:prstGeom prst="ellipse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280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5E"/>
                </a:solidFill>
              </a:rPr>
              <a:t>Blouse (1)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1709928"/>
            <a:ext cx="228600" cy="228600"/>
          </a:xfrm>
          <a:prstGeom prst="ellipse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6642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5E"/>
                </a:solidFill>
              </a:rPr>
              <a:t>Shirt (2)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093976"/>
            <a:ext cx="228600" cy="228600"/>
          </a:xfrm>
          <a:prstGeom prst="ellipse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048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5E"/>
                </a:solidFill>
              </a:rPr>
              <a:t>T-Shirt (3)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8229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822960"/>
            <a:ext cx="4206240" cy="411480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Accessories  — Top 3 Products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92040" y="1325880"/>
            <a:ext cx="228600" cy="228600"/>
          </a:xfrm>
          <a:prstGeom prst="ellipse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12801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5E"/>
                </a:solidFill>
              </a:rPr>
              <a:t>Jewelry (1)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92040" y="1709928"/>
            <a:ext cx="228600" cy="228600"/>
          </a:xfrm>
          <a:prstGeom prst="ellipse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6642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5E"/>
                </a:solidFill>
              </a:rPr>
              <a:t>Handbag (2)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2093976"/>
            <a:ext cx="228600" cy="228600"/>
          </a:xfrm>
          <a:prstGeom prst="ellipse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12080" y="20482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5E"/>
                </a:solidFill>
              </a:rPr>
              <a:t>Belt (3)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8803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880360"/>
            <a:ext cx="42062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2880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Footwear  — Top 3 Products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11480" y="3383280"/>
            <a:ext cx="228600" cy="228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3337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5E"/>
                </a:solidFill>
              </a:rPr>
              <a:t>Sandals (1)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11480" y="3767328"/>
            <a:ext cx="228600" cy="228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7216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5E"/>
                </a:solidFill>
              </a:rPr>
              <a:t>Boots (2)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4151376"/>
            <a:ext cx="228600" cy="228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1056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5E"/>
                </a:solidFill>
              </a:rPr>
              <a:t>Sneakers (3)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54880" y="2880360"/>
            <a:ext cx="42062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880360"/>
            <a:ext cx="4206240" cy="4114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64608" y="28803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Outerwear  — Top 3 Products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92040" y="3383280"/>
            <a:ext cx="228600" cy="2286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333756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5E"/>
                </a:solidFill>
              </a:rPr>
              <a:t>Coat (1)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892040" y="3767328"/>
            <a:ext cx="228600" cy="2286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0" y="372160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5E"/>
                </a:solidFill>
              </a:rPr>
              <a:t>Jacket (2)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92040" y="4151376"/>
            <a:ext cx="228600" cy="2286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12080" y="410565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5E"/>
                </a:solidFill>
              </a:rPr>
              <a:t>Hoodie (3)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A0005A"/>
          </a:solidFill>
          <a:ln w="12700">
            <a:solidFill>
              <a:srgbClr val="A000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Customer Behaviour Dashboard</a:t>
            </a:r>
            <a:endParaRPr lang="en-US" sz="2200" dirty="0"/>
          </a:p>
        </p:txBody>
      </p:sp>
      <p:pic>
        <p:nvPicPr>
          <p:cNvPr id="5" name="Image 0" descr="/home/claude/CB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2296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2834640" cy="54864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63384"/>
                </a:solidFill>
              </a:rPr>
              <a:t>Boost Subscription Rate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With 73% non-subscribers, targeted campaigns to convert high-frequency buyers can dramatically increase recurring revenue.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822960"/>
            <a:ext cx="2834640" cy="54864"/>
          </a:xfrm>
          <a:prstGeom prst="rect">
            <a:avLst/>
          </a:prstGeom>
          <a:solidFill>
            <a:srgbClr val="1B1F5E"/>
          </a:solidFill>
          <a:ln w="12700">
            <a:solidFill>
              <a:srgbClr val="1B1F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14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291840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5E"/>
                </a:solidFill>
              </a:rPr>
              <a:t>Focus on Clothing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91840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Clothing accounts for 44% of revenue. Double down on inventory depth, seasonal campaigns, and cross-sell opportunities.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172200" y="82296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822960"/>
            <a:ext cx="28346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914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137160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8090"/>
                </a:solidFill>
              </a:rPr>
              <a:t>Promote PayPal &amp; Digital Pay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63640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PayPal and Cash lead payment methods. Incentivize digital payments to reduce cash handling costs.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28600" y="28346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2834640"/>
            <a:ext cx="2834640" cy="5486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2926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🏷️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0040" y="3383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E46"/>
                </a:solidFill>
              </a:rPr>
              <a:t>Optimize Discount Strategy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3749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High-discount products should be monitored for margin impact. Redirect discounts to low-penetration categories.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0" y="28346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834640"/>
            <a:ext cx="2834640" cy="54864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2926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👑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91840" y="3383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5042"/>
                </a:solidFill>
              </a:rPr>
              <a:t>Reward Loyal Customers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291840" y="3749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Loyal buyers (11+ purchases) are the highest LTV segment. Build a tiered loyalty program to retain and grow this cohort.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72200" y="2834640"/>
            <a:ext cx="2834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834640"/>
            <a:ext cx="2834640" cy="5486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926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263640" y="33832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</a:rPr>
              <a:t>Target Young Adults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263640" y="3749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Young Adults drive the highest revenue group at $62K. Tailor marketing channels (social/mobile) to capture this segment.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73152"/>
            <a:ext cx="2743200" cy="4997196"/>
          </a:xfrm>
          <a:prstGeom prst="rect">
            <a:avLst/>
          </a:prstGeom>
          <a:solidFill>
            <a:srgbClr val="A0005A"/>
          </a:solidFill>
          <a:ln w="12700">
            <a:solidFill>
              <a:srgbClr val="A000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28016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82880" y="32004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8BBD9"/>
                </a:solidFill>
              </a:rPr>
              <a:t>Questions &amp;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8BBD9"/>
                </a:solidFill>
              </a:rPr>
              <a:t>Discussion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188720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017520" y="1691640"/>
            <a:ext cx="457200" cy="54864"/>
          </a:xfrm>
          <a:prstGeom prst="rect">
            <a:avLst/>
          </a:prstGeom>
          <a:solidFill>
            <a:srgbClr val="D63384"/>
          </a:solidFill>
          <a:ln w="12700">
            <a:solidFill>
              <a:srgbClr val="D633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87452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BBD9"/>
                </a:solidFill>
              </a:rPr>
              <a:t>Key Takeaways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28600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3384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</a:rPr>
              <a:t>3,900+ customers analyzed across 4 product categories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17520" y="2670048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3384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</a:rPr>
              <a:t>Clothing dominates revenue at 44% of total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3054096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3384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</a:rPr>
              <a:t>73% non-subscriber base — major growth opportunity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3438144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3384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</a:rPr>
              <a:t>Young Adults are the highest revenue age group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17520" y="3822192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3384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</a:rPr>
              <a:t>PayPal leads as most-used payment method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4206240"/>
            <a:ext cx="5852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3384"/>
                </a:solidFill>
              </a:rPr>
              <a:t>▸  </a:t>
            </a:r>
            <a:pPr indent="0" marL="0">
              <a:buNone/>
            </a:pPr>
            <a:r>
              <a:rPr lang="en-US" sz="1000" dirty="0">
                <a:solidFill>
                  <a:srgbClr val="B0B8D8"/>
                </a:solidFill>
              </a:rPr>
              <a:t>Loyal customers show strong subscription correlation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PptxGenJS</cp:lastModifiedBy>
  <cp:revision>1</cp:revision>
  <dcterms:created xsi:type="dcterms:W3CDTF">2026-03-12T08:08:43Z</dcterms:created>
  <dcterms:modified xsi:type="dcterms:W3CDTF">2026-03-12T08:08:43Z</dcterms:modified>
</cp:coreProperties>
</file>